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A5538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427140"/>
            <a:ext cx="745617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70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SIGN 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52500" y="3860527"/>
            <a:ext cx="7456170" cy="1775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8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 entry, warm welcome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52500" y="5902598"/>
            <a:ext cx="62788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구글 한 번이면 끝. 입장은 조용하게, 첫 인상은 따뜻하게. Frosted-glass 헤일로가 매차 한 잔의 결을 그대로 가져옵니다.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7274198"/>
            <a:ext cx="1475482" cy="44291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1575" y="7457554"/>
            <a:ext cx="76200" cy="76200"/>
          </a:xfrm>
          <a:prstGeom prst="ellipse">
            <a:avLst/>
          </a:prstGeom>
          <a:solidFill>
            <a:srgbClr val="8FB570"/>
          </a:solidFill>
          <a:ln/>
        </p:spPr>
      </p:sp>
      <p:sp>
        <p:nvSpPr>
          <p:cNvPr id="8" name="Text 6"/>
          <p:cNvSpPr/>
          <p:nvPr/>
        </p:nvSpPr>
        <p:spPr>
          <a:xfrm>
            <a:off x="1343025" y="7405167"/>
            <a:ext cx="94208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1-tap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42282" y="7274198"/>
            <a:ext cx="1631603" cy="44291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61357" y="7457554"/>
            <a:ext cx="76200" cy="76200"/>
          </a:xfrm>
          <a:prstGeom prst="ellipse">
            <a:avLst/>
          </a:prstGeom>
          <a:solidFill>
            <a:srgbClr val="F4C4B0"/>
          </a:solidFill>
          <a:ln/>
        </p:spPr>
      </p:sp>
      <p:sp>
        <p:nvSpPr>
          <p:cNvPr id="11" name="Text 9"/>
          <p:cNvSpPr/>
          <p:nvPr/>
        </p:nvSpPr>
        <p:spPr>
          <a:xfrm>
            <a:off x="2932807" y="7398023"/>
            <a:ext cx="109820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근처 243명 표시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239500" y="762000"/>
            <a:ext cx="4953000" cy="9620250"/>
          </a:xfrm>
          <a:prstGeom prst="roundRect">
            <a:avLst>
              <a:gd name="adj" fmla="val 11538"/>
            </a:avLst>
          </a:prstGeom>
          <a:ln/>
          <a:effectLst>
            <a:outerShdw sx="100000" sy="100000" kx="0" ky="0" algn="bl" rotWithShape="0" blurRad="1143000" dist="571500" dir="5400000">
              <a:srgbClr val="000000">
                <a:alpha val="7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239500" y="762000"/>
            <a:ext cx="4951762" cy="9649587"/>
          </a:xfrm>
          <a:prstGeom prst="rect">
            <a:avLst/>
          </a:prstGeom>
          <a:solidFill>
            <a:srgbClr val="D9E8A8"/>
          </a:solidFill>
          <a:ln/>
        </p:spPr>
      </p:sp>
      <p:sp>
        <p:nvSpPr>
          <p:cNvPr id="14" name="Shape 12"/>
          <p:cNvSpPr/>
          <p:nvPr/>
        </p:nvSpPr>
        <p:spPr>
          <a:xfrm>
            <a:off x="13397960" y="191"/>
            <a:ext cx="3555111" cy="3555111"/>
          </a:xfrm>
          <a:prstGeom prst="ellipse">
            <a:avLst/>
          </a:prstGeom>
          <a:solidFill>
            <a:srgbClr val="F4C4B0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223754" y="7364349"/>
            <a:ext cx="4316920" cy="4316921"/>
          </a:xfrm>
          <a:prstGeom prst="ellipse">
            <a:avLst/>
          </a:prstGeom>
          <a:solidFill>
            <a:srgbClr val="8FB570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413706" y="4621835"/>
            <a:ext cx="2285428" cy="2285429"/>
          </a:xfrm>
          <a:prstGeom prst="ellipse">
            <a:avLst/>
          </a:prstGeom>
          <a:solidFill>
            <a:srgbClr val="C9B8E8">
              <a:alpha val="5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518831" y="920710"/>
            <a:ext cx="446788" cy="279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9:41</a:t>
            </a:r>
            <a:endParaRPr lang="en-US" sz="1125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8548" y="971498"/>
            <a:ext cx="228543" cy="139665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0574" y="971498"/>
            <a:ext cx="203149" cy="13966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7208" y="971498"/>
            <a:ext cx="304723" cy="13966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2547273" y="2895066"/>
            <a:ext cx="2336217" cy="2336216"/>
          </a:xfrm>
          <a:prstGeom prst="ellipse">
            <a:avLst/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5816" y="3123609"/>
            <a:ext cx="1879131" cy="187913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14088945" y="2793492"/>
            <a:ext cx="1150055" cy="380905"/>
          </a:xfrm>
          <a:prstGeom prst="roundRect">
            <a:avLst>
              <a:gd name="adj" fmla="val 4501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4254004" y="2945854"/>
            <a:ext cx="76180" cy="76181"/>
          </a:xfrm>
          <a:prstGeom prst="ellipse">
            <a:avLst/>
          </a:prstGeom>
          <a:solidFill>
            <a:srgbClr val="8FB570"/>
          </a:solidFill>
          <a:ln/>
          <a:effectLst>
            <a:outerShdw sx="100000" sy="100000" kx="0" ky="0" algn="bl" rotWithShape="0" blurRad="76200" dist="50800" dir="16200000">
              <a:srgbClr val="8FB570">
                <a:alpha val="10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14406366" y="2882370"/>
            <a:ext cx="743774" cy="241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243명 근처</a:t>
            </a:r>
            <a:endParaRPr lang="en-US" sz="825" dirty="0"/>
          </a:p>
        </p:txBody>
      </p:sp>
      <p:sp>
        <p:nvSpPr>
          <p:cNvPr id="26" name="Text 20"/>
          <p:cNvSpPr/>
          <p:nvPr/>
        </p:nvSpPr>
        <p:spPr>
          <a:xfrm>
            <a:off x="12647062" y="5536006"/>
            <a:ext cx="2212837" cy="895135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38100" dir="5400000">
              <a:srgbClr val="000000">
                <a:alpha val="2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6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Matcha</a:t>
            </a:r>
            <a:endParaRPr lang="en-US" sz="4200" dirty="0"/>
          </a:p>
        </p:txBody>
      </p:sp>
      <p:sp>
        <p:nvSpPr>
          <p:cNvPr id="27" name="Text 21"/>
          <p:cNvSpPr/>
          <p:nvPr/>
        </p:nvSpPr>
        <p:spPr>
          <a:xfrm>
            <a:off x="12380228" y="7028081"/>
            <a:ext cx="2670207" cy="279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i="1" spc="-6" kern="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"말차 한 잔처럼, 깊고 조용한 연결"</a:t>
            </a:r>
            <a:endParaRPr lang="en-US" sz="1125" dirty="0"/>
          </a:p>
        </p:txBody>
      </p:sp>
      <p:sp>
        <p:nvSpPr>
          <p:cNvPr id="28" name="Text 22"/>
          <p:cNvSpPr/>
          <p:nvPr/>
        </p:nvSpPr>
        <p:spPr>
          <a:xfrm>
            <a:off x="12324033" y="7815285"/>
            <a:ext cx="2782695" cy="91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FFFFF">
                    <a:alpha val="7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카페에서 나누는 느슨한 연결과 말차. 지금 내 주변에서 당신과 대화하고 싶은 사람을 찾아보세요.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11595011" y="8913361"/>
            <a:ext cx="4240740" cy="711022"/>
          </a:xfrm>
          <a:prstGeom prst="roundRect">
            <a:avLst>
              <a:gd name="adj" fmla="val 24113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0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9815" y="9141904"/>
            <a:ext cx="253936" cy="25393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032620" y="9122859"/>
            <a:ext cx="1746427" cy="330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-12" kern="0" dirty="0">
                <a:solidFill>
                  <a:srgbClr val="1A241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Google로 시작하기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2132057" y="9852926"/>
            <a:ext cx="3166548" cy="241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-8" kern="0" dirty="0">
                <a:solidFill>
                  <a:srgbClr val="FFFFFF">
                    <a:alpha val="5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시작하면</a:t>
            </a:r>
            <a:pPr algn="ctr" indent="0" marL="0">
              <a:buNone/>
            </a:pPr>
            <a:r>
              <a:rPr lang="en-US" sz="825" u="sng" spc="-8" kern="0" dirty="0">
                <a:solidFill>
                  <a:srgbClr val="FFFFFF">
                    <a:alpha val="5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이용약관</a:t>
            </a:r>
            <a:pPr algn="ctr" indent="0" marL="0">
              <a:buNone/>
            </a:pPr>
            <a:r>
              <a:rPr lang="en-US" sz="825" spc="-8" kern="0" dirty="0">
                <a:solidFill>
                  <a:srgbClr val="FFFFFF">
                    <a:alpha val="5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</a:t>
            </a:r>
            <a:pPr algn="ctr" indent="0" marL="0">
              <a:buNone/>
            </a:pPr>
            <a:r>
              <a:rPr lang="en-US" sz="825" u="sng" spc="-8" kern="0" dirty="0">
                <a:solidFill>
                  <a:srgbClr val="FFFFFF">
                    <a:alpha val="5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개인정보처리방침</a:t>
            </a:r>
            <a:pPr algn="ctr" indent="0" marL="0">
              <a:buNone/>
            </a:pPr>
            <a:r>
              <a:rPr lang="en-US" sz="825" spc="-8" kern="0" dirty="0">
                <a:solidFill>
                  <a:srgbClr val="FFFFFF">
                    <a:alpha val="5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동의합니다</a:t>
            </a:r>
            <a:endParaRPr lang="en-US" sz="825" dirty="0"/>
          </a:p>
        </p:txBody>
      </p:sp>
      <p:sp>
        <p:nvSpPr>
          <p:cNvPr id="33" name="Shape 26"/>
          <p:cNvSpPr/>
          <p:nvPr/>
        </p:nvSpPr>
        <p:spPr>
          <a:xfrm>
            <a:off x="12864694" y="10246528"/>
            <a:ext cx="1701374" cy="63484"/>
          </a:xfrm>
          <a:prstGeom prst="roundRect">
            <a:avLst>
              <a:gd name="adj" fmla="val 45011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34" name="Text 27"/>
          <p:cNvSpPr/>
          <p:nvPr/>
        </p:nvSpPr>
        <p:spPr>
          <a:xfrm>
            <a:off x="952500" y="9625013"/>
            <a:ext cx="21083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Matcha · Glassmorphism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15202570" y="9644063"/>
            <a:ext cx="220913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"말차 한 잔처럼, 깊고 조용한 연결"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A5538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61420"/>
            <a:ext cx="745617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70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MAP · NEARBY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52500" y="4294808"/>
            <a:ext cx="7456170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8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who is nearby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52500" y="5468243"/>
            <a:ext cx="62788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 위에 떠다니는 글래스 핀. 직업·거리·말차 성향이 한눈에. 불꽃 아이콘은 지금 가장 활발한 카페를 알려줘요.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6839843"/>
            <a:ext cx="1306264" cy="44291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1575" y="7023199"/>
            <a:ext cx="76200" cy="76200"/>
          </a:xfrm>
          <a:prstGeom prst="ellipse">
            <a:avLst/>
          </a:prstGeom>
          <a:solidFill>
            <a:srgbClr val="8FB570"/>
          </a:solidFill>
          <a:ln/>
        </p:spPr>
      </p:sp>
      <p:sp>
        <p:nvSpPr>
          <p:cNvPr id="8" name="Text 6"/>
          <p:cNvSpPr/>
          <p:nvPr/>
        </p:nvSpPr>
        <p:spPr>
          <a:xfrm>
            <a:off x="1343025" y="6963668"/>
            <a:ext cx="77286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위치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73064" y="6839843"/>
            <a:ext cx="1438126" cy="44291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92139" y="7023199"/>
            <a:ext cx="76200" cy="76200"/>
          </a:xfrm>
          <a:prstGeom prst="ellipse">
            <a:avLst/>
          </a:prstGeom>
          <a:solidFill>
            <a:srgbClr val="C9B8E8"/>
          </a:solidFill>
          <a:ln/>
        </p:spPr>
      </p:sp>
      <p:sp>
        <p:nvSpPr>
          <p:cNvPr id="11" name="Text 9"/>
          <p:cNvSpPr/>
          <p:nvPr/>
        </p:nvSpPr>
        <p:spPr>
          <a:xfrm>
            <a:off x="2763589" y="6963668"/>
            <a:ext cx="9047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필터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25491" y="6839843"/>
            <a:ext cx="1005111" cy="44291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44566" y="7023199"/>
            <a:ext cx="76200" cy="76200"/>
          </a:xfrm>
          <a:prstGeom prst="ellipse">
            <a:avLst/>
          </a:prstGeom>
          <a:solidFill>
            <a:srgbClr val="F4C4B0"/>
          </a:solidFill>
          <a:ln/>
        </p:spPr>
      </p:sp>
      <p:sp>
        <p:nvSpPr>
          <p:cNvPr id="14" name="Text 12"/>
          <p:cNvSpPr/>
          <p:nvPr/>
        </p:nvSpPr>
        <p:spPr>
          <a:xfrm>
            <a:off x="4316016" y="6963668"/>
            <a:ext cx="47171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핫스팟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239500" y="762000"/>
            <a:ext cx="4953000" cy="9620250"/>
          </a:xfrm>
          <a:prstGeom prst="roundRect">
            <a:avLst>
              <a:gd name="adj" fmla="val 11538"/>
            </a:avLst>
          </a:prstGeom>
          <a:ln/>
          <a:effectLst>
            <a:outerShdw sx="100000" sy="100000" kx="0" ky="0" algn="bl" rotWithShape="0" blurRad="1143000" dist="571500" dir="5400000">
              <a:srgbClr val="000000">
                <a:alpha val="7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239500" y="762000"/>
            <a:ext cx="4951762" cy="9649587"/>
          </a:xfrm>
          <a:prstGeom prst="rect">
            <a:avLst/>
          </a:prstGeom>
          <a:solidFill>
            <a:srgbClr val="78B4DC">
              <a:alpha val="22000"/>
            </a:srgbClr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9500" y="762000"/>
            <a:ext cx="4951762" cy="9649587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1239500" y="762000"/>
            <a:ext cx="4951762" cy="9649587"/>
          </a:xfrm>
          <a:prstGeom prst="rect">
            <a:avLst/>
          </a:prstGeom>
          <a:solidFill>
            <a:srgbClr val="142819">
              <a:alpha val="18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1518831" y="920710"/>
            <a:ext cx="446788" cy="279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1A24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9:41</a:t>
            </a:r>
            <a:endParaRPr lang="en-US" sz="1125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8548" y="971498"/>
            <a:ext cx="228543" cy="139665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0574" y="971498"/>
            <a:ext cx="203149" cy="139665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7208" y="971498"/>
            <a:ext cx="304723" cy="139665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11442649" y="1396841"/>
            <a:ext cx="1598312" cy="685628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1556920" y="1511113"/>
            <a:ext cx="457086" cy="457086"/>
          </a:xfrm>
          <a:prstGeom prst="ellipse">
            <a:avLst/>
          </a:prstGeom>
          <a:solidFill>
            <a:srgbClr val="C8DFB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314" y="1536506"/>
            <a:ext cx="406298" cy="40629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140974" y="1619036"/>
            <a:ext cx="760341" cy="279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Matcha</a:t>
            </a:r>
            <a:endParaRPr lang="en-US" sz="1125" dirty="0"/>
          </a:p>
        </p:txBody>
      </p:sp>
      <p:sp>
        <p:nvSpPr>
          <p:cNvPr id="27" name="Shape 20"/>
          <p:cNvSpPr/>
          <p:nvPr/>
        </p:nvSpPr>
        <p:spPr>
          <a:xfrm>
            <a:off x="14108983" y="1460325"/>
            <a:ext cx="558659" cy="558660"/>
          </a:xfrm>
          <a:prstGeom prst="ellipse">
            <a:avLst/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61345" y="1612687"/>
            <a:ext cx="253936" cy="253936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14439100" y="1574597"/>
            <a:ext cx="101574" cy="101575"/>
          </a:xfrm>
          <a:prstGeom prst="ellipse">
            <a:avLst/>
          </a:prstGeom>
          <a:solidFill>
            <a:srgbClr val="F4C4B0"/>
          </a:solidFill>
          <a:ln/>
          <a:effectLst>
            <a:outerShdw sx="100000" sy="100000" kx="0" ky="0" algn="bl" rotWithShape="0" blurRad="76200" dist="50800" dir="16200000">
              <a:srgbClr val="F4C4B0">
                <a:alpha val="10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14769217" y="1460325"/>
            <a:ext cx="558660" cy="558660"/>
          </a:xfrm>
          <a:prstGeom prst="ellipse">
            <a:avLst/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27927" y="1619036"/>
            <a:ext cx="241240" cy="24124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15429452" y="1460325"/>
            <a:ext cx="558660" cy="558660"/>
          </a:xfrm>
          <a:prstGeom prst="ellipse">
            <a:avLst/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15467542" y="1498416"/>
            <a:ext cx="482480" cy="482479"/>
          </a:xfrm>
          <a:prstGeom prst="ellipse">
            <a:avLst/>
          </a:prstGeom>
          <a:solidFill>
            <a:srgbClr val="C9B8E8"/>
          </a:solidFill>
          <a:ln/>
        </p:spPr>
      </p:sp>
      <p:sp>
        <p:nvSpPr>
          <p:cNvPr id="34" name="Shape 25"/>
          <p:cNvSpPr/>
          <p:nvPr/>
        </p:nvSpPr>
        <p:spPr>
          <a:xfrm>
            <a:off x="12302164" y="4105034"/>
            <a:ext cx="647538" cy="647538"/>
          </a:xfrm>
          <a:prstGeom prst="ellipse">
            <a:avLst/>
          </a:prstGeom>
          <a:solidFill>
            <a:srgbClr val="FFFFFF">
              <a:alpha val="14000"/>
            </a:srgbClr>
          </a:solidFill>
          <a:ln w="14288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12359300" y="4162170"/>
            <a:ext cx="533266" cy="533267"/>
          </a:xfrm>
          <a:prstGeom prst="ellipse">
            <a:avLst/>
          </a:prstGeom>
          <a:solidFill>
            <a:srgbClr val="F4C4B0"/>
          </a:solidFill>
          <a:ln/>
        </p:spPr>
      </p:sp>
      <p:sp>
        <p:nvSpPr>
          <p:cNvPr id="36" name="Text 27"/>
          <p:cNvSpPr/>
          <p:nvPr/>
        </p:nvSpPr>
        <p:spPr>
          <a:xfrm>
            <a:off x="12359300" y="4162170"/>
            <a:ext cx="609466" cy="57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지수</a:t>
            </a:r>
            <a:endParaRPr lang="en-US" sz="975" dirty="0"/>
          </a:p>
        </p:txBody>
      </p:sp>
      <p:sp>
        <p:nvSpPr>
          <p:cNvPr id="37" name="Shape 28"/>
          <p:cNvSpPr/>
          <p:nvPr/>
        </p:nvSpPr>
        <p:spPr>
          <a:xfrm>
            <a:off x="13598499" y="3143913"/>
            <a:ext cx="1025926" cy="1025926"/>
          </a:xfrm>
          <a:prstGeom prst="ellipse">
            <a:avLst/>
          </a:prstGeom>
          <a:solidFill>
            <a:srgbClr val="F4C4B0">
              <a:alpha val="34000"/>
            </a:srgbClr>
          </a:solidFill>
          <a:ln/>
        </p:spPr>
      </p:sp>
      <p:sp>
        <p:nvSpPr>
          <p:cNvPr id="38" name="Shape 29"/>
          <p:cNvSpPr/>
          <p:nvPr/>
        </p:nvSpPr>
        <p:spPr>
          <a:xfrm>
            <a:off x="13787693" y="3333107"/>
            <a:ext cx="647537" cy="647538"/>
          </a:xfrm>
          <a:prstGeom prst="ellipse">
            <a:avLst/>
          </a:prstGeom>
          <a:solidFill>
            <a:srgbClr val="FFFFFF">
              <a:alpha val="14000"/>
            </a:srgbClr>
          </a:solidFill>
          <a:ln w="14288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13844829" y="3390243"/>
            <a:ext cx="533266" cy="533267"/>
          </a:xfrm>
          <a:prstGeom prst="ellipse">
            <a:avLst/>
          </a:prstGeom>
          <a:solidFill>
            <a:srgbClr val="8FB570"/>
          </a:solidFill>
          <a:ln/>
        </p:spPr>
      </p:sp>
      <p:sp>
        <p:nvSpPr>
          <p:cNvPr id="40" name="Text 31"/>
          <p:cNvSpPr/>
          <p:nvPr/>
        </p:nvSpPr>
        <p:spPr>
          <a:xfrm>
            <a:off x="13844829" y="3390243"/>
            <a:ext cx="609466" cy="57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민재</a:t>
            </a:r>
            <a:endParaRPr lang="en-US" sz="975" dirty="0"/>
          </a:p>
        </p:txBody>
      </p:sp>
      <p:sp>
        <p:nvSpPr>
          <p:cNvPr id="41" name="Shape 32"/>
          <p:cNvSpPr/>
          <p:nvPr/>
        </p:nvSpPr>
        <p:spPr>
          <a:xfrm>
            <a:off x="14480960" y="5841920"/>
            <a:ext cx="647537" cy="647538"/>
          </a:xfrm>
          <a:prstGeom prst="ellipse">
            <a:avLst/>
          </a:prstGeom>
          <a:solidFill>
            <a:srgbClr val="FFFFFF">
              <a:alpha val="14000"/>
            </a:srgbClr>
          </a:solidFill>
          <a:ln w="14288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14538095" y="5899056"/>
            <a:ext cx="533266" cy="533267"/>
          </a:xfrm>
          <a:prstGeom prst="ellipse">
            <a:avLst/>
          </a:prstGeom>
          <a:solidFill>
            <a:srgbClr val="C9B8E8"/>
          </a:solidFill>
          <a:ln/>
        </p:spPr>
      </p:sp>
      <p:sp>
        <p:nvSpPr>
          <p:cNvPr id="43" name="Text 34"/>
          <p:cNvSpPr/>
          <p:nvPr/>
        </p:nvSpPr>
        <p:spPr>
          <a:xfrm>
            <a:off x="14538095" y="5899056"/>
            <a:ext cx="609466" cy="57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하은</a:t>
            </a:r>
            <a:endParaRPr lang="en-US" sz="975" dirty="0"/>
          </a:p>
        </p:txBody>
      </p:sp>
      <p:sp>
        <p:nvSpPr>
          <p:cNvPr id="44" name="Shape 35"/>
          <p:cNvSpPr/>
          <p:nvPr/>
        </p:nvSpPr>
        <p:spPr>
          <a:xfrm>
            <a:off x="12995431" y="6999910"/>
            <a:ext cx="647538" cy="647538"/>
          </a:xfrm>
          <a:prstGeom prst="ellipse">
            <a:avLst/>
          </a:prstGeom>
          <a:solidFill>
            <a:srgbClr val="FFFFFF">
              <a:alpha val="14000"/>
            </a:srgbClr>
          </a:solidFill>
          <a:ln w="14288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13052567" y="7057046"/>
            <a:ext cx="533266" cy="533266"/>
          </a:xfrm>
          <a:prstGeom prst="ellipse">
            <a:avLst/>
          </a:prstGeom>
          <a:solidFill>
            <a:srgbClr val="F4C4B0"/>
          </a:solidFill>
          <a:ln/>
        </p:spPr>
      </p:sp>
      <p:sp>
        <p:nvSpPr>
          <p:cNvPr id="46" name="Text 37"/>
          <p:cNvSpPr/>
          <p:nvPr/>
        </p:nvSpPr>
        <p:spPr>
          <a:xfrm>
            <a:off x="13052567" y="7057046"/>
            <a:ext cx="609466" cy="571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준호</a:t>
            </a:r>
            <a:endParaRPr lang="en-US" sz="975" dirty="0"/>
          </a:p>
        </p:txBody>
      </p:sp>
      <p:sp>
        <p:nvSpPr>
          <p:cNvPr id="47" name="Shape 38"/>
          <p:cNvSpPr/>
          <p:nvPr/>
        </p:nvSpPr>
        <p:spPr>
          <a:xfrm>
            <a:off x="12005079" y="7192942"/>
            <a:ext cx="647538" cy="647538"/>
          </a:xfrm>
          <a:prstGeom prst="ellipse">
            <a:avLst/>
          </a:prstGeom>
          <a:solidFill>
            <a:srgbClr val="FFFFFF">
              <a:alpha val="14000"/>
            </a:srgbClr>
          </a:solidFill>
          <a:ln w="14288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12062215" y="7250077"/>
            <a:ext cx="533266" cy="533267"/>
          </a:xfrm>
          <a:prstGeom prst="ellipse">
            <a:avLst/>
          </a:prstGeom>
          <a:solidFill>
            <a:srgbClr val="8FB570"/>
          </a:solidFill>
          <a:ln/>
        </p:spPr>
      </p:sp>
      <p:sp>
        <p:nvSpPr>
          <p:cNvPr id="49" name="Text 40"/>
          <p:cNvSpPr/>
          <p:nvPr/>
        </p:nvSpPr>
        <p:spPr>
          <a:xfrm>
            <a:off x="12062215" y="7250077"/>
            <a:ext cx="609466" cy="57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서연</a:t>
            </a:r>
            <a:endParaRPr lang="en-US" sz="975" dirty="0"/>
          </a:p>
        </p:txBody>
      </p:sp>
      <p:sp>
        <p:nvSpPr>
          <p:cNvPr id="50" name="Shape 41"/>
          <p:cNvSpPr/>
          <p:nvPr/>
        </p:nvSpPr>
        <p:spPr>
          <a:xfrm>
            <a:off x="14877141" y="8157900"/>
            <a:ext cx="647537" cy="647538"/>
          </a:xfrm>
          <a:prstGeom prst="ellipse">
            <a:avLst/>
          </a:prstGeom>
          <a:solidFill>
            <a:srgbClr val="FFFFFF">
              <a:alpha val="14000"/>
            </a:srgbClr>
          </a:solidFill>
          <a:ln w="14288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sp>
        <p:nvSpPr>
          <p:cNvPr id="51" name="Shape 42"/>
          <p:cNvSpPr/>
          <p:nvPr/>
        </p:nvSpPr>
        <p:spPr>
          <a:xfrm>
            <a:off x="14934276" y="8215036"/>
            <a:ext cx="533266" cy="533267"/>
          </a:xfrm>
          <a:prstGeom prst="ellipse">
            <a:avLst/>
          </a:prstGeom>
          <a:solidFill>
            <a:srgbClr val="C9B8E8"/>
          </a:solidFill>
          <a:ln/>
        </p:spPr>
      </p:sp>
      <p:sp>
        <p:nvSpPr>
          <p:cNvPr id="52" name="Text 43"/>
          <p:cNvSpPr/>
          <p:nvPr/>
        </p:nvSpPr>
        <p:spPr>
          <a:xfrm>
            <a:off x="14934276" y="8215036"/>
            <a:ext cx="609466" cy="57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도윤</a:t>
            </a:r>
            <a:endParaRPr lang="en-US" sz="975" dirty="0"/>
          </a:p>
        </p:txBody>
      </p:sp>
      <p:sp>
        <p:nvSpPr>
          <p:cNvPr id="53" name="Shape 44"/>
          <p:cNvSpPr/>
          <p:nvPr/>
        </p:nvSpPr>
        <p:spPr>
          <a:xfrm>
            <a:off x="13042449" y="4913862"/>
            <a:ext cx="1345863" cy="1345863"/>
          </a:xfrm>
          <a:prstGeom prst="ellipse">
            <a:avLst/>
          </a:prstGeom>
          <a:solidFill>
            <a:srgbClr val="8FB570">
              <a:alpha val="45000"/>
            </a:srgbClr>
          </a:solidFill>
          <a:ln/>
        </p:spPr>
      </p:sp>
      <p:sp>
        <p:nvSpPr>
          <p:cNvPr id="54" name="Shape 45"/>
          <p:cNvSpPr/>
          <p:nvPr/>
        </p:nvSpPr>
        <p:spPr>
          <a:xfrm>
            <a:off x="13575716" y="5447128"/>
            <a:ext cx="279331" cy="279331"/>
          </a:xfrm>
          <a:prstGeom prst="ellipse">
            <a:avLst/>
          </a:prstGeom>
          <a:solidFill>
            <a:srgbClr val="8FB570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55" name="Shape 46"/>
          <p:cNvSpPr/>
          <p:nvPr/>
        </p:nvSpPr>
        <p:spPr>
          <a:xfrm>
            <a:off x="15454845" y="3849808"/>
            <a:ext cx="558661" cy="558660"/>
          </a:xfrm>
          <a:prstGeom prst="ellipse">
            <a:avLst/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19905" y="4014867"/>
            <a:ext cx="228542" cy="228543"/>
          </a:xfrm>
          <a:prstGeom prst="rect">
            <a:avLst/>
          </a:prstGeom>
        </p:spPr>
      </p:pic>
      <p:sp>
        <p:nvSpPr>
          <p:cNvPr id="57" name="Shape 47"/>
          <p:cNvSpPr/>
          <p:nvPr/>
        </p:nvSpPr>
        <p:spPr>
          <a:xfrm>
            <a:off x="15454845" y="4535437"/>
            <a:ext cx="558661" cy="558660"/>
          </a:xfrm>
          <a:prstGeom prst="ellipse">
            <a:avLst/>
          </a:prstGeom>
          <a:solidFill>
            <a:srgbClr val="F4C4B0">
              <a:alpha val="50000"/>
            </a:srgbClr>
          </a:solidFill>
          <a:ln w="9525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19905" y="4700495"/>
            <a:ext cx="228542" cy="228543"/>
          </a:xfrm>
          <a:prstGeom prst="rect">
            <a:avLst/>
          </a:prstGeom>
        </p:spPr>
      </p:pic>
      <p:sp>
        <p:nvSpPr>
          <p:cNvPr id="59" name="Shape 48"/>
          <p:cNvSpPr/>
          <p:nvPr/>
        </p:nvSpPr>
        <p:spPr>
          <a:xfrm>
            <a:off x="15454845" y="5221065"/>
            <a:ext cx="558661" cy="558661"/>
          </a:xfrm>
          <a:prstGeom prst="ellipse">
            <a:avLst/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19905" y="5386124"/>
            <a:ext cx="228542" cy="228543"/>
          </a:xfrm>
          <a:prstGeom prst="rect">
            <a:avLst/>
          </a:prstGeom>
        </p:spPr>
      </p:pic>
      <p:sp>
        <p:nvSpPr>
          <p:cNvPr id="61" name="Shape 49"/>
          <p:cNvSpPr/>
          <p:nvPr/>
        </p:nvSpPr>
        <p:spPr>
          <a:xfrm>
            <a:off x="15454845" y="5906694"/>
            <a:ext cx="558661" cy="558661"/>
          </a:xfrm>
          <a:prstGeom prst="ellipse">
            <a:avLst/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619905" y="6071753"/>
            <a:ext cx="228542" cy="228542"/>
          </a:xfrm>
          <a:prstGeom prst="rect">
            <a:avLst/>
          </a:prstGeom>
        </p:spPr>
      </p:pic>
      <p:sp>
        <p:nvSpPr>
          <p:cNvPr id="63" name="Shape 50"/>
          <p:cNvSpPr/>
          <p:nvPr/>
        </p:nvSpPr>
        <p:spPr>
          <a:xfrm>
            <a:off x="11417255" y="7796041"/>
            <a:ext cx="4596251" cy="2285427"/>
          </a:xfrm>
          <a:prstGeom prst="roundRect">
            <a:avLst>
              <a:gd name="adj" fmla="val 11670"/>
            </a:avLst>
          </a:prstGeom>
          <a:solidFill>
            <a:srgbClr val="FFFFFF">
              <a:alpha val="22000"/>
            </a:srgbClr>
          </a:solidFill>
          <a:ln w="9525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sp>
        <p:nvSpPr>
          <p:cNvPr id="64" name="Shape 51"/>
          <p:cNvSpPr/>
          <p:nvPr/>
        </p:nvSpPr>
        <p:spPr>
          <a:xfrm>
            <a:off x="13436051" y="8011887"/>
            <a:ext cx="558660" cy="50788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6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58495" y="8275346"/>
            <a:ext cx="152362" cy="152362"/>
          </a:xfrm>
          <a:prstGeom prst="rect">
            <a:avLst/>
          </a:prstGeom>
        </p:spPr>
      </p:pic>
      <p:sp>
        <p:nvSpPr>
          <p:cNvPr id="66" name="Text 52"/>
          <p:cNvSpPr/>
          <p:nvPr/>
        </p:nvSpPr>
        <p:spPr>
          <a:xfrm>
            <a:off x="11912432" y="8240430"/>
            <a:ext cx="873123" cy="260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FFFFFF">
                    <a:alpha val="7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지금 내 주변</a:t>
            </a:r>
            <a:endParaRPr lang="en-US" sz="900" dirty="0"/>
          </a:p>
        </p:txBody>
      </p:sp>
      <p:sp>
        <p:nvSpPr>
          <p:cNvPr id="67" name="Text 53"/>
          <p:cNvSpPr/>
          <p:nvPr/>
        </p:nvSpPr>
        <p:spPr>
          <a:xfrm>
            <a:off x="11658495" y="8513411"/>
            <a:ext cx="3034340" cy="368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근처에</a:t>
            </a:r>
            <a:pPr algn="l" indent="0" marL="0">
              <a:buNone/>
            </a:pPr>
            <a:r>
              <a:rPr lang="en-US" sz="1350" b="1" spc="-13" kern="0" dirty="0">
                <a:solidFill>
                  <a:srgbClr val="C8DF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12명</a:t>
            </a:r>
            <a:pPr algn="l" indent="0" marL="0">
              <a:buNone/>
            </a:pPr>
            <a:r>
              <a:rPr lang="en-US" sz="1350" b="1" spc="-13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말차를 기다려요</a:t>
            </a:r>
            <a:endParaRPr lang="en-US" sz="1350" dirty="0"/>
          </a:p>
        </p:txBody>
      </p:sp>
      <p:sp>
        <p:nvSpPr>
          <p:cNvPr id="68" name="Shape 54"/>
          <p:cNvSpPr/>
          <p:nvPr/>
        </p:nvSpPr>
        <p:spPr>
          <a:xfrm>
            <a:off x="15289788" y="8300739"/>
            <a:ext cx="482479" cy="482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6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429452" y="8440405"/>
            <a:ext cx="203149" cy="203149"/>
          </a:xfrm>
          <a:prstGeom prst="rect">
            <a:avLst/>
          </a:prstGeom>
        </p:spPr>
      </p:pic>
      <p:sp>
        <p:nvSpPr>
          <p:cNvPr id="70" name="Shape 55"/>
          <p:cNvSpPr/>
          <p:nvPr/>
        </p:nvSpPr>
        <p:spPr>
          <a:xfrm>
            <a:off x="11658495" y="9021284"/>
            <a:ext cx="1286545" cy="844339"/>
          </a:xfrm>
          <a:prstGeom prst="roundRect">
            <a:avLst>
              <a:gd name="adj" fmla="val 1805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1" name="Shape 56"/>
          <p:cNvSpPr/>
          <p:nvPr/>
        </p:nvSpPr>
        <p:spPr>
          <a:xfrm>
            <a:off x="11798160" y="9160950"/>
            <a:ext cx="330118" cy="330117"/>
          </a:xfrm>
          <a:prstGeom prst="ellipse">
            <a:avLst/>
          </a:prstGeom>
          <a:solidFill>
            <a:srgbClr val="8FB570"/>
          </a:solidFill>
          <a:ln/>
        </p:spPr>
      </p:sp>
      <p:sp>
        <p:nvSpPr>
          <p:cNvPr id="72" name="Text 57"/>
          <p:cNvSpPr/>
          <p:nvPr/>
        </p:nvSpPr>
        <p:spPr>
          <a:xfrm>
            <a:off x="11798160" y="9160950"/>
            <a:ext cx="406318" cy="368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민재</a:t>
            </a:r>
            <a:endParaRPr lang="en-US" sz="750" dirty="0"/>
          </a:p>
        </p:txBody>
      </p:sp>
      <p:sp>
        <p:nvSpPr>
          <p:cNvPr id="73" name="Text 58"/>
          <p:cNvSpPr/>
          <p:nvPr/>
        </p:nvSpPr>
        <p:spPr>
          <a:xfrm>
            <a:off x="12229852" y="9214911"/>
            <a:ext cx="486566" cy="260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120m</a:t>
            </a:r>
            <a:endParaRPr lang="en-US" sz="900" dirty="0"/>
          </a:p>
        </p:txBody>
      </p:sp>
      <p:sp>
        <p:nvSpPr>
          <p:cNvPr id="74" name="Text 59"/>
          <p:cNvSpPr/>
          <p:nvPr/>
        </p:nvSpPr>
        <p:spPr>
          <a:xfrm>
            <a:off x="11798160" y="9567248"/>
            <a:ext cx="1083415" cy="196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>
                    <a:alpha val="7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IT</a:t>
            </a:r>
            <a:endParaRPr lang="en-US" sz="750" dirty="0"/>
          </a:p>
        </p:txBody>
      </p:sp>
      <p:sp>
        <p:nvSpPr>
          <p:cNvPr id="75" name="Shape 60"/>
          <p:cNvSpPr/>
          <p:nvPr/>
        </p:nvSpPr>
        <p:spPr>
          <a:xfrm>
            <a:off x="13072009" y="9021284"/>
            <a:ext cx="1286645" cy="844339"/>
          </a:xfrm>
          <a:prstGeom prst="roundRect">
            <a:avLst>
              <a:gd name="adj" fmla="val 1805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6" name="Shape 61"/>
          <p:cNvSpPr/>
          <p:nvPr/>
        </p:nvSpPr>
        <p:spPr>
          <a:xfrm>
            <a:off x="13211674" y="9160950"/>
            <a:ext cx="330118" cy="330117"/>
          </a:xfrm>
          <a:prstGeom prst="ellipse">
            <a:avLst/>
          </a:prstGeom>
          <a:solidFill>
            <a:srgbClr val="C9B8E8"/>
          </a:solidFill>
          <a:ln/>
        </p:spPr>
      </p:sp>
      <p:sp>
        <p:nvSpPr>
          <p:cNvPr id="77" name="Text 62"/>
          <p:cNvSpPr/>
          <p:nvPr/>
        </p:nvSpPr>
        <p:spPr>
          <a:xfrm>
            <a:off x="13211674" y="9160950"/>
            <a:ext cx="406318" cy="368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하은</a:t>
            </a:r>
            <a:endParaRPr lang="en-US" sz="750" dirty="0"/>
          </a:p>
        </p:txBody>
      </p:sp>
      <p:sp>
        <p:nvSpPr>
          <p:cNvPr id="78" name="Text 63"/>
          <p:cNvSpPr/>
          <p:nvPr/>
        </p:nvSpPr>
        <p:spPr>
          <a:xfrm>
            <a:off x="13643366" y="9214911"/>
            <a:ext cx="486566" cy="260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340m</a:t>
            </a:r>
            <a:endParaRPr lang="en-US" sz="900" dirty="0"/>
          </a:p>
        </p:txBody>
      </p:sp>
      <p:sp>
        <p:nvSpPr>
          <p:cNvPr id="79" name="Text 64"/>
          <p:cNvSpPr/>
          <p:nvPr/>
        </p:nvSpPr>
        <p:spPr>
          <a:xfrm>
            <a:off x="13211674" y="9567248"/>
            <a:ext cx="1083514" cy="196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>
                    <a:alpha val="7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Marketing</a:t>
            </a:r>
            <a:endParaRPr lang="en-US" sz="750" dirty="0"/>
          </a:p>
        </p:txBody>
      </p:sp>
      <p:sp>
        <p:nvSpPr>
          <p:cNvPr id="80" name="Shape 65"/>
          <p:cNvSpPr/>
          <p:nvPr/>
        </p:nvSpPr>
        <p:spPr>
          <a:xfrm>
            <a:off x="14485622" y="9021284"/>
            <a:ext cx="1286645" cy="844339"/>
          </a:xfrm>
          <a:prstGeom prst="roundRect">
            <a:avLst>
              <a:gd name="adj" fmla="val 1805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1" name="Shape 66"/>
          <p:cNvSpPr/>
          <p:nvPr/>
        </p:nvSpPr>
        <p:spPr>
          <a:xfrm>
            <a:off x="14625286" y="9160950"/>
            <a:ext cx="330118" cy="330117"/>
          </a:xfrm>
          <a:prstGeom prst="ellipse">
            <a:avLst/>
          </a:prstGeom>
          <a:solidFill>
            <a:srgbClr val="F4C4B0"/>
          </a:solidFill>
          <a:ln/>
        </p:spPr>
      </p:sp>
      <p:sp>
        <p:nvSpPr>
          <p:cNvPr id="82" name="Text 67"/>
          <p:cNvSpPr/>
          <p:nvPr/>
        </p:nvSpPr>
        <p:spPr>
          <a:xfrm>
            <a:off x="14625286" y="9160950"/>
            <a:ext cx="406318" cy="368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준호</a:t>
            </a:r>
            <a:endParaRPr lang="en-US" sz="750" dirty="0"/>
          </a:p>
        </p:txBody>
      </p:sp>
      <p:sp>
        <p:nvSpPr>
          <p:cNvPr id="83" name="Text 68"/>
          <p:cNvSpPr/>
          <p:nvPr/>
        </p:nvSpPr>
        <p:spPr>
          <a:xfrm>
            <a:off x="15056979" y="9214911"/>
            <a:ext cx="486566" cy="260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500m</a:t>
            </a:r>
            <a:endParaRPr lang="en-US" sz="900" dirty="0"/>
          </a:p>
        </p:txBody>
      </p:sp>
      <p:sp>
        <p:nvSpPr>
          <p:cNvPr id="84" name="Text 69"/>
          <p:cNvSpPr/>
          <p:nvPr/>
        </p:nvSpPr>
        <p:spPr>
          <a:xfrm>
            <a:off x="14625286" y="9567248"/>
            <a:ext cx="1083515" cy="196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>
                    <a:alpha val="72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Finance</a:t>
            </a:r>
            <a:endParaRPr lang="en-US" sz="750" dirty="0"/>
          </a:p>
        </p:txBody>
      </p:sp>
      <p:sp>
        <p:nvSpPr>
          <p:cNvPr id="85" name="Shape 70"/>
          <p:cNvSpPr/>
          <p:nvPr/>
        </p:nvSpPr>
        <p:spPr>
          <a:xfrm>
            <a:off x="12864694" y="10246528"/>
            <a:ext cx="1701374" cy="63484"/>
          </a:xfrm>
          <a:prstGeom prst="roundRect">
            <a:avLst>
              <a:gd name="adj" fmla="val 45011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86" name="Text 71"/>
          <p:cNvSpPr/>
          <p:nvPr/>
        </p:nvSpPr>
        <p:spPr>
          <a:xfrm>
            <a:off x="952500" y="9625013"/>
            <a:ext cx="21083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Matcha · Glassmorphism</a:t>
            </a:r>
            <a:endParaRPr lang="en-US" sz="1350" dirty="0"/>
          </a:p>
        </p:txBody>
      </p:sp>
      <p:sp>
        <p:nvSpPr>
          <p:cNvPr id="87" name="Text 72"/>
          <p:cNvSpPr/>
          <p:nvPr/>
        </p:nvSpPr>
        <p:spPr>
          <a:xfrm>
            <a:off x="15202570" y="9644063"/>
            <a:ext cx="220913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"말차 한 잔처럼, 깊고 조용한 연결"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A5538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427140"/>
            <a:ext cx="745617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70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CHAT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52500" y="3860527"/>
            <a:ext cx="7456170" cy="1775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8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requests, slow replies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52500" y="5902598"/>
            <a:ext cx="62788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받은 말차 요청을 글래스 카드로. 빈 상태도 풍경의 일부 — 잎사귀가 가만히, 다음 인연을 기다려요.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7274198"/>
            <a:ext cx="1174477" cy="44291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1575" y="7457554"/>
            <a:ext cx="76200" cy="76200"/>
          </a:xfrm>
          <a:prstGeom prst="ellipse">
            <a:avLst/>
          </a:prstGeom>
          <a:solidFill>
            <a:srgbClr val="8FB570"/>
          </a:solidFill>
          <a:ln/>
        </p:spPr>
      </p:sp>
      <p:sp>
        <p:nvSpPr>
          <p:cNvPr id="8" name="Text 6"/>
          <p:cNvSpPr/>
          <p:nvPr/>
        </p:nvSpPr>
        <p:spPr>
          <a:xfrm>
            <a:off x="1343025" y="7398023"/>
            <a:ext cx="64107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수락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1277" y="7274198"/>
            <a:ext cx="1728936" cy="44291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0352" y="7457554"/>
            <a:ext cx="76200" cy="76200"/>
          </a:xfrm>
          <a:prstGeom prst="ellipse">
            <a:avLst/>
          </a:prstGeom>
          <a:solidFill>
            <a:srgbClr val="C9B8E8"/>
          </a:solidFill>
          <a:ln/>
        </p:spPr>
      </p:sp>
      <p:sp>
        <p:nvSpPr>
          <p:cNvPr id="11" name="Text 9"/>
          <p:cNvSpPr/>
          <p:nvPr/>
        </p:nvSpPr>
        <p:spPr>
          <a:xfrm>
            <a:off x="2631802" y="7398023"/>
            <a:ext cx="119553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 / 지난 만남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239500" y="762000"/>
            <a:ext cx="4953000" cy="9620250"/>
          </a:xfrm>
          <a:prstGeom prst="roundRect">
            <a:avLst>
              <a:gd name="adj" fmla="val 11538"/>
            </a:avLst>
          </a:prstGeom>
          <a:ln/>
          <a:effectLst>
            <a:outerShdw sx="100000" sy="100000" kx="0" ky="0" algn="bl" rotWithShape="0" blurRad="1143000" dist="571500" dir="5400000">
              <a:srgbClr val="000000">
                <a:alpha val="7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239500" y="762000"/>
            <a:ext cx="4951762" cy="9649587"/>
          </a:xfrm>
          <a:prstGeom prst="rect">
            <a:avLst/>
          </a:prstGeom>
          <a:solidFill>
            <a:srgbClr val="78B4DC">
              <a:alpha val="22000"/>
            </a:srgbClr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1239500" y="762000"/>
            <a:ext cx="4951762" cy="9649587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1239500" y="762000"/>
            <a:ext cx="4951762" cy="9649587"/>
          </a:xfrm>
          <a:prstGeom prst="rect">
            <a:avLst/>
          </a:prstGeom>
          <a:solidFill>
            <a:srgbClr val="1A3A2A">
              <a:alpha val="6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3651897" y="-253746"/>
            <a:ext cx="3555111" cy="3555111"/>
          </a:xfrm>
          <a:prstGeom prst="ellipse">
            <a:avLst/>
          </a:prstGeom>
          <a:solidFill>
            <a:srgbClr val="8FB570">
              <a:alpha val="7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9969817" y="5434431"/>
            <a:ext cx="3047238" cy="3047238"/>
          </a:xfrm>
          <a:prstGeom prst="ellipse">
            <a:avLst/>
          </a:prstGeom>
          <a:solidFill>
            <a:srgbClr val="C9B8E8">
              <a:alpha val="4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1518831" y="920710"/>
            <a:ext cx="446788" cy="279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9:41</a:t>
            </a:r>
            <a:endParaRPr lang="en-US" sz="1125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8548" y="971498"/>
            <a:ext cx="228543" cy="13966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0574" y="971498"/>
            <a:ext cx="203149" cy="13966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7208" y="971498"/>
            <a:ext cx="304723" cy="1396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518831" y="1498416"/>
            <a:ext cx="1455194" cy="393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spc="-42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채팅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11518831" y="1930108"/>
            <a:ext cx="1455194" cy="260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받은 말차 요청</a:t>
            </a:r>
            <a:pPr algn="l" indent="0" marL="0">
              <a:buNone/>
            </a:pPr>
            <a:r>
              <a:rPr lang="en-US" sz="900" dirty="0">
                <a:solidFill>
                  <a:srgbClr val="C8DFB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15404059" y="1571423"/>
            <a:ext cx="507872" cy="507873"/>
          </a:xfrm>
          <a:prstGeom prst="ellipse">
            <a:avLst/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3723" y="1711088"/>
            <a:ext cx="228543" cy="228543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11518831" y="2406239"/>
            <a:ext cx="1405478" cy="514221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33350" dist="38100" dir="5400000">
              <a:srgbClr val="000000">
                <a:alpha val="18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11734677" y="2545904"/>
            <a:ext cx="712529" cy="272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A24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받은 요청</a:t>
            </a:r>
            <a:endParaRPr lang="en-US" sz="975" dirty="0"/>
          </a:p>
        </p:txBody>
      </p:sp>
      <p:sp>
        <p:nvSpPr>
          <p:cNvPr id="28" name="Shape 21"/>
          <p:cNvSpPr/>
          <p:nvPr/>
        </p:nvSpPr>
        <p:spPr>
          <a:xfrm>
            <a:off x="12447187" y="2561775"/>
            <a:ext cx="261276" cy="203149"/>
          </a:xfrm>
          <a:prstGeom prst="roundRect">
            <a:avLst>
              <a:gd name="adj" fmla="val 46887"/>
            </a:avLst>
          </a:prstGeom>
          <a:solidFill>
            <a:srgbClr val="8FB570">
              <a:alpha val="25000"/>
            </a:srgbClr>
          </a:solidFill>
          <a:ln/>
        </p:spPr>
      </p:sp>
      <p:sp>
        <p:nvSpPr>
          <p:cNvPr id="29" name="Text 22"/>
          <p:cNvSpPr/>
          <p:nvPr/>
        </p:nvSpPr>
        <p:spPr>
          <a:xfrm>
            <a:off x="12513862" y="2571300"/>
            <a:ext cx="204126" cy="2221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A4A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825" dirty="0"/>
          </a:p>
        </p:txBody>
      </p:sp>
      <p:sp>
        <p:nvSpPr>
          <p:cNvPr id="30" name="Shape 23"/>
          <p:cNvSpPr/>
          <p:nvPr/>
        </p:nvSpPr>
        <p:spPr>
          <a:xfrm>
            <a:off x="13025884" y="2406239"/>
            <a:ext cx="1392187" cy="514221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3479696" y="2545904"/>
            <a:ext cx="560663" cy="272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진행 중</a:t>
            </a:r>
            <a:endParaRPr lang="en-US" sz="975" dirty="0"/>
          </a:p>
        </p:txBody>
      </p:sp>
      <p:sp>
        <p:nvSpPr>
          <p:cNvPr id="32" name="Shape 25"/>
          <p:cNvSpPr/>
          <p:nvPr/>
        </p:nvSpPr>
        <p:spPr>
          <a:xfrm>
            <a:off x="14519645" y="2406239"/>
            <a:ext cx="1392286" cy="514221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14897574" y="2545904"/>
            <a:ext cx="712529" cy="272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지난 만남</a:t>
            </a:r>
            <a:endParaRPr lang="en-US" sz="975" dirty="0"/>
          </a:p>
        </p:txBody>
      </p:sp>
      <p:sp>
        <p:nvSpPr>
          <p:cNvPr id="34" name="Shape 27"/>
          <p:cNvSpPr/>
          <p:nvPr/>
        </p:nvSpPr>
        <p:spPr>
          <a:xfrm>
            <a:off x="11442649" y="3149003"/>
            <a:ext cx="4545463" cy="990352"/>
          </a:xfrm>
          <a:prstGeom prst="roundRect">
            <a:avLst>
              <a:gd name="adj" fmla="val 21159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1633102" y="3339455"/>
            <a:ext cx="609448" cy="609447"/>
          </a:xfrm>
          <a:prstGeom prst="ellipse">
            <a:avLst/>
          </a:prstGeom>
          <a:solidFill>
            <a:srgbClr val="8FB570"/>
          </a:solidFill>
          <a:ln/>
        </p:spPr>
      </p:sp>
      <p:sp>
        <p:nvSpPr>
          <p:cNvPr id="36" name="Text 29"/>
          <p:cNvSpPr/>
          <p:nvPr/>
        </p:nvSpPr>
        <p:spPr>
          <a:xfrm>
            <a:off x="11633102" y="3339455"/>
            <a:ext cx="685648" cy="647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민재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12394911" y="3380720"/>
            <a:ext cx="403342" cy="292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민재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12798234" y="3402939"/>
            <a:ext cx="254432" cy="209498"/>
          </a:xfrm>
          <a:prstGeom prst="roundRect">
            <a:avLst>
              <a:gd name="adj" fmla="val 2727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9" name="Text 32"/>
          <p:cNvSpPr/>
          <p:nvPr/>
        </p:nvSpPr>
        <p:spPr>
          <a:xfrm>
            <a:off x="12855384" y="3421989"/>
            <a:ext cx="216332" cy="209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>
                    <a:alpha val="6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IT</a:t>
            </a:r>
            <a:endParaRPr lang="en-US" sz="750" dirty="0"/>
          </a:p>
        </p:txBody>
      </p:sp>
      <p:sp>
        <p:nvSpPr>
          <p:cNvPr id="40" name="Text 33"/>
          <p:cNvSpPr/>
          <p:nvPr/>
        </p:nvSpPr>
        <p:spPr>
          <a:xfrm>
            <a:off x="14826055" y="3406114"/>
            <a:ext cx="438357" cy="241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5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120m</a:t>
            </a:r>
            <a:endParaRPr lang="en-US" sz="825" dirty="0"/>
          </a:p>
        </p:txBody>
      </p:sp>
      <p:sp>
        <p:nvSpPr>
          <p:cNvPr id="41" name="Text 34"/>
          <p:cNvSpPr/>
          <p:nvPr/>
        </p:nvSpPr>
        <p:spPr>
          <a:xfrm>
            <a:off x="12394911" y="3685444"/>
            <a:ext cx="2877101" cy="260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8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 만월경에서 30분 후 어떠세요?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15340574" y="3415636"/>
            <a:ext cx="457086" cy="457086"/>
          </a:xfrm>
          <a:prstGeom prst="ellipse">
            <a:avLst/>
          </a:prstGeom>
          <a:solidFill>
            <a:srgbClr val="8FB570"/>
          </a:solidFill>
          <a:ln/>
          <a:effectLst>
            <a:outerShdw sx="100000" sy="100000" kx="0" ky="0" algn="bl" rotWithShape="0" blurRad="114300" dist="38100" dir="5400000">
              <a:srgbClr val="8FB570">
                <a:alpha val="50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67542" y="3542605"/>
            <a:ext cx="203150" cy="203149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11442649" y="4266324"/>
            <a:ext cx="4545463" cy="990352"/>
          </a:xfrm>
          <a:prstGeom prst="roundRect">
            <a:avLst>
              <a:gd name="adj" fmla="val 21159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11633102" y="4456776"/>
            <a:ext cx="609448" cy="609447"/>
          </a:xfrm>
          <a:prstGeom prst="ellipse">
            <a:avLst/>
          </a:prstGeom>
          <a:solidFill>
            <a:srgbClr val="C9B8E8"/>
          </a:solidFill>
          <a:ln/>
        </p:spPr>
      </p:sp>
      <p:sp>
        <p:nvSpPr>
          <p:cNvPr id="46" name="Text 38"/>
          <p:cNvSpPr/>
          <p:nvPr/>
        </p:nvSpPr>
        <p:spPr>
          <a:xfrm>
            <a:off x="11633102" y="4456776"/>
            <a:ext cx="685648" cy="647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하은</a:t>
            </a:r>
            <a:endParaRPr lang="en-US" sz="1050" dirty="0"/>
          </a:p>
        </p:txBody>
      </p:sp>
      <p:sp>
        <p:nvSpPr>
          <p:cNvPr id="47" name="Text 39"/>
          <p:cNvSpPr/>
          <p:nvPr/>
        </p:nvSpPr>
        <p:spPr>
          <a:xfrm>
            <a:off x="12394911" y="4494866"/>
            <a:ext cx="403342" cy="292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하은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12798234" y="4517086"/>
            <a:ext cx="771233" cy="209497"/>
          </a:xfrm>
          <a:prstGeom prst="roundRect">
            <a:avLst>
              <a:gd name="adj" fmla="val 2728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9" name="Text 41"/>
          <p:cNvSpPr/>
          <p:nvPr/>
        </p:nvSpPr>
        <p:spPr>
          <a:xfrm>
            <a:off x="12855384" y="4536136"/>
            <a:ext cx="733133" cy="209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>
                    <a:alpha val="6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Marketing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4826055" y="4520260"/>
            <a:ext cx="438357" cy="241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5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340m</a:t>
            </a:r>
            <a:endParaRPr lang="en-US" sz="825" dirty="0"/>
          </a:p>
        </p:txBody>
      </p:sp>
      <p:sp>
        <p:nvSpPr>
          <p:cNvPr id="51" name="Text 43"/>
          <p:cNvSpPr/>
          <p:nvPr/>
        </p:nvSpPr>
        <p:spPr>
          <a:xfrm>
            <a:off x="12394911" y="4799590"/>
            <a:ext cx="2877101" cy="266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8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오후 비어있어요 ☕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15340574" y="4532957"/>
            <a:ext cx="457086" cy="457086"/>
          </a:xfrm>
          <a:prstGeom prst="ellipse">
            <a:avLst/>
          </a:prstGeom>
          <a:solidFill>
            <a:srgbClr val="8FB570"/>
          </a:solidFill>
          <a:ln/>
          <a:effectLst>
            <a:outerShdw sx="100000" sy="100000" kx="0" ky="0" algn="bl" rotWithShape="0" blurRad="114300" dist="38100" dir="5400000">
              <a:srgbClr val="8FB570">
                <a:alpha val="50000"/>
              </a:srgbClr>
            </a:outerShdw>
          </a:effectLst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67542" y="4659925"/>
            <a:ext cx="203150" cy="203149"/>
          </a:xfrm>
          <a:prstGeom prst="rect">
            <a:avLst/>
          </a:prstGeom>
        </p:spPr>
      </p:pic>
      <p:sp>
        <p:nvSpPr>
          <p:cNvPr id="54" name="Shape 45"/>
          <p:cNvSpPr/>
          <p:nvPr/>
        </p:nvSpPr>
        <p:spPr>
          <a:xfrm>
            <a:off x="11518831" y="5758200"/>
            <a:ext cx="1617059" cy="1269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5" name="Text 46"/>
          <p:cNvSpPr/>
          <p:nvPr/>
        </p:nvSpPr>
        <p:spPr>
          <a:xfrm>
            <a:off x="13262858" y="5662974"/>
            <a:ext cx="981246" cy="241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 중인 사람</a:t>
            </a:r>
            <a:endParaRPr lang="en-US" sz="825" dirty="0"/>
          </a:p>
        </p:txBody>
      </p:sp>
      <p:sp>
        <p:nvSpPr>
          <p:cNvPr id="56" name="Shape 47"/>
          <p:cNvSpPr/>
          <p:nvPr/>
        </p:nvSpPr>
        <p:spPr>
          <a:xfrm>
            <a:off x="14294872" y="5758200"/>
            <a:ext cx="1617059" cy="1269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7" name="Shape 48"/>
          <p:cNvSpPr/>
          <p:nvPr/>
        </p:nvSpPr>
        <p:spPr>
          <a:xfrm>
            <a:off x="11518831" y="6043879"/>
            <a:ext cx="4393100" cy="3123419"/>
          </a:xfrm>
          <a:prstGeom prst="roundRect">
            <a:avLst>
              <a:gd name="adj" fmla="val 731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13232902" y="6564449"/>
            <a:ext cx="964959" cy="964959"/>
          </a:xfrm>
          <a:prstGeom prst="ellipse">
            <a:avLst/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99534" y="6831082"/>
            <a:ext cx="431692" cy="431692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12872719" y="7757950"/>
            <a:ext cx="1685225" cy="330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아직 채팅이 없어요</a:t>
            </a:r>
            <a:endParaRPr lang="en-US" sz="1200" dirty="0"/>
          </a:p>
        </p:txBody>
      </p:sp>
      <p:sp>
        <p:nvSpPr>
          <p:cNvPr id="61" name="Text 51"/>
          <p:cNvSpPr/>
          <p:nvPr/>
        </p:nvSpPr>
        <p:spPr>
          <a:xfrm>
            <a:off x="12544883" y="8151552"/>
            <a:ext cx="2340897" cy="533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FFFFFF">
                    <a:alpha val="6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말차 요청을 수락하면 이곳에서 따뜻한 대화가 시작돼요</a:t>
            </a:r>
            <a:endParaRPr lang="en-US" sz="975" dirty="0"/>
          </a:p>
        </p:txBody>
      </p:sp>
      <p:sp>
        <p:nvSpPr>
          <p:cNvPr id="62" name="Shape 52"/>
          <p:cNvSpPr/>
          <p:nvPr/>
        </p:nvSpPr>
        <p:spPr>
          <a:xfrm>
            <a:off x="12864694" y="10246528"/>
            <a:ext cx="1701374" cy="63484"/>
          </a:xfrm>
          <a:prstGeom prst="roundRect">
            <a:avLst>
              <a:gd name="adj" fmla="val 45011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63" name="Text 53"/>
          <p:cNvSpPr/>
          <p:nvPr/>
        </p:nvSpPr>
        <p:spPr>
          <a:xfrm>
            <a:off x="952500" y="9625013"/>
            <a:ext cx="21083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Matcha · Glassmorphism</a:t>
            </a:r>
            <a:endParaRPr lang="en-US" sz="1350" dirty="0"/>
          </a:p>
        </p:txBody>
      </p:sp>
      <p:sp>
        <p:nvSpPr>
          <p:cNvPr id="64" name="Text 54"/>
          <p:cNvSpPr/>
          <p:nvPr/>
        </p:nvSpPr>
        <p:spPr>
          <a:xfrm>
            <a:off x="15202570" y="9644063"/>
            <a:ext cx="220913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"말차 한 잔처럼, 깊고 조용한 연결"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A5538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427140"/>
            <a:ext cx="745617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70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PROFILE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52500" y="3860527"/>
            <a:ext cx="7456170" cy="1775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8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collaboration card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52500" y="5902598"/>
            <a:ext cx="62788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마디, 전문 분야, 말차 성향. 가볍게 채우고 깊게 연결돼요. 저장 버튼만 광택 있는 다크 글래스로 강조.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7274198"/>
            <a:ext cx="1409998" cy="44291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1575" y="7457554"/>
            <a:ext cx="76200" cy="76200"/>
          </a:xfrm>
          <a:prstGeom prst="ellipse">
            <a:avLst/>
          </a:prstGeom>
          <a:solidFill>
            <a:srgbClr val="8FB570"/>
          </a:solidFill>
          <a:ln/>
        </p:spPr>
      </p:sp>
      <p:sp>
        <p:nvSpPr>
          <p:cNvPr id="8" name="Text 6"/>
          <p:cNvSpPr/>
          <p:nvPr/>
        </p:nvSpPr>
        <p:spPr>
          <a:xfrm>
            <a:off x="1343025" y="7398023"/>
            <a:ext cx="87659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마디 80자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76798" y="7274198"/>
            <a:ext cx="1138461" cy="44291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5873" y="7457554"/>
            <a:ext cx="76200" cy="76200"/>
          </a:xfrm>
          <a:prstGeom prst="ellipse">
            <a:avLst/>
          </a:prstGeom>
          <a:solidFill>
            <a:srgbClr val="C9B8E8"/>
          </a:solidFill>
          <a:ln/>
        </p:spPr>
      </p:sp>
      <p:sp>
        <p:nvSpPr>
          <p:cNvPr id="11" name="Text 9"/>
          <p:cNvSpPr/>
          <p:nvPr/>
        </p:nvSpPr>
        <p:spPr>
          <a:xfrm>
            <a:off x="2867323" y="7398023"/>
            <a:ext cx="6050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분야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29558" y="7274198"/>
            <a:ext cx="1271290" cy="44291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48633" y="7457554"/>
            <a:ext cx="76200" cy="76200"/>
          </a:xfrm>
          <a:prstGeom prst="ellipse">
            <a:avLst/>
          </a:prstGeom>
          <a:solidFill>
            <a:srgbClr val="F4C4B0"/>
          </a:solidFill>
          <a:ln/>
        </p:spPr>
      </p:sp>
      <p:sp>
        <p:nvSpPr>
          <p:cNvPr id="14" name="Text 12"/>
          <p:cNvSpPr/>
          <p:nvPr/>
        </p:nvSpPr>
        <p:spPr>
          <a:xfrm>
            <a:off x="4120083" y="7398023"/>
            <a:ext cx="73789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3가지 성향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239500" y="762000"/>
            <a:ext cx="4953000" cy="9620250"/>
          </a:xfrm>
          <a:prstGeom prst="roundRect">
            <a:avLst>
              <a:gd name="adj" fmla="val 11538"/>
            </a:avLst>
          </a:prstGeom>
          <a:ln/>
          <a:effectLst>
            <a:outerShdw sx="100000" sy="100000" kx="0" ky="0" algn="bl" rotWithShape="0" blurRad="1143000" dist="571500" dir="5400000">
              <a:srgbClr val="000000">
                <a:alpha val="7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239500" y="762000"/>
            <a:ext cx="4951762" cy="9649587"/>
          </a:xfrm>
          <a:prstGeom prst="rect">
            <a:avLst/>
          </a:prstGeom>
          <a:solidFill>
            <a:srgbClr val="78B4DC">
              <a:alpha val="22000"/>
            </a:srgbClr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1239500" y="762000"/>
            <a:ext cx="4951762" cy="9649587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1239500" y="762000"/>
            <a:ext cx="4951762" cy="9649587"/>
          </a:xfrm>
          <a:prstGeom prst="rect">
            <a:avLst/>
          </a:prstGeom>
          <a:solidFill>
            <a:srgbClr val="1A3A2A">
              <a:alpha val="5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4159769" y="1777746"/>
            <a:ext cx="3047238" cy="3047238"/>
          </a:xfrm>
          <a:prstGeom prst="ellipse">
            <a:avLst/>
          </a:prstGeom>
          <a:solidFill>
            <a:srgbClr val="C9B8E8">
              <a:alpha val="5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0223754" y="8126158"/>
            <a:ext cx="3555111" cy="3555111"/>
          </a:xfrm>
          <a:prstGeom prst="ellipse">
            <a:avLst/>
          </a:prstGeom>
          <a:solidFill>
            <a:srgbClr val="8FB570">
              <a:alpha val="7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11518831" y="920710"/>
            <a:ext cx="446788" cy="279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9:41</a:t>
            </a:r>
            <a:endParaRPr lang="en-US" sz="1125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8548" y="971498"/>
            <a:ext cx="228543" cy="139665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0574" y="971498"/>
            <a:ext cx="203149" cy="139665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7208" y="971498"/>
            <a:ext cx="304723" cy="13966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518831" y="1460325"/>
            <a:ext cx="1154438" cy="444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프로필</a:t>
            </a:r>
            <a:endParaRPr lang="en-US" sz="1650" dirty="0"/>
          </a:p>
        </p:txBody>
      </p:sp>
      <p:sp>
        <p:nvSpPr>
          <p:cNvPr id="26" name="Shape 20"/>
          <p:cNvSpPr/>
          <p:nvPr/>
        </p:nvSpPr>
        <p:spPr>
          <a:xfrm>
            <a:off x="15429452" y="1422235"/>
            <a:ext cx="482479" cy="482479"/>
          </a:xfrm>
          <a:prstGeom prst="ellipse">
            <a:avLst/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69117" y="1561900"/>
            <a:ext cx="203149" cy="203149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11442649" y="2057076"/>
            <a:ext cx="4355011" cy="2564759"/>
          </a:xfrm>
          <a:prstGeom prst="roundRect">
            <a:avLst>
              <a:gd name="adj" fmla="val 8913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571500" dist="171450" dir="5400000">
              <a:srgbClr val="142819">
                <a:alpha val="5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12998010" y="2298316"/>
            <a:ext cx="1244289" cy="1244289"/>
          </a:xfrm>
          <a:prstGeom prst="ellipse">
            <a:avLst/>
          </a:prstGeom>
          <a:solidFill>
            <a:srgbClr val="8FB570"/>
          </a:solidFill>
          <a:ln/>
        </p:spPr>
      </p:sp>
      <p:sp>
        <p:nvSpPr>
          <p:cNvPr id="30" name="Shape 23"/>
          <p:cNvSpPr/>
          <p:nvPr/>
        </p:nvSpPr>
        <p:spPr>
          <a:xfrm>
            <a:off x="13036101" y="2336406"/>
            <a:ext cx="1168108" cy="1168108"/>
          </a:xfrm>
          <a:prstGeom prst="ellipse">
            <a:avLst/>
          </a:prstGeom>
          <a:solidFill>
            <a:srgbClr val="C9B8E8"/>
          </a:solidFill>
          <a:ln w="28575">
            <a:solidFill>
              <a:srgbClr val="FFFFFF">
                <a:alpha val="8500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12281" y="2412587"/>
            <a:ext cx="1015746" cy="101574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2683160" y="3694966"/>
            <a:ext cx="1873990" cy="393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-33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youngjoo Suh</a:t>
            </a:r>
            <a:endParaRPr lang="en-US" sz="1650" dirty="0"/>
          </a:p>
        </p:txBody>
      </p:sp>
      <p:sp>
        <p:nvSpPr>
          <p:cNvPr id="33" name="Shape 25"/>
          <p:cNvSpPr/>
          <p:nvPr/>
        </p:nvSpPr>
        <p:spPr>
          <a:xfrm>
            <a:off x="12782462" y="4101265"/>
            <a:ext cx="1675386" cy="27933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4" name="Shape 26"/>
          <p:cNvSpPr/>
          <p:nvPr/>
        </p:nvSpPr>
        <p:spPr>
          <a:xfrm>
            <a:off x="12909431" y="4209188"/>
            <a:ext cx="63483" cy="63484"/>
          </a:xfrm>
          <a:prstGeom prst="ellipse">
            <a:avLst/>
          </a:prstGeom>
          <a:solidFill>
            <a:srgbClr val="8FB570"/>
          </a:solidFill>
          <a:ln/>
        </p:spPr>
      </p:sp>
      <p:sp>
        <p:nvSpPr>
          <p:cNvPr id="35" name="Text 27"/>
          <p:cNvSpPr/>
          <p:nvPr/>
        </p:nvSpPr>
        <p:spPr>
          <a:xfrm>
            <a:off x="13010995" y="4152052"/>
            <a:ext cx="1357983" cy="215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>
                    <a:alpha val="78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Collaboration Card</a:t>
            </a:r>
            <a:endParaRPr lang="en-US" sz="825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3437" y="4834506"/>
            <a:ext cx="165059" cy="16505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1760069" y="4799590"/>
            <a:ext cx="1581567" cy="272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7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나를 표현하는 한 마디</a:t>
            </a:r>
            <a:endParaRPr lang="en-US" sz="975" dirty="0"/>
          </a:p>
        </p:txBody>
      </p:sp>
      <p:sp>
        <p:nvSpPr>
          <p:cNvPr id="38" name="Shape 29"/>
          <p:cNvSpPr/>
          <p:nvPr/>
        </p:nvSpPr>
        <p:spPr>
          <a:xfrm>
            <a:off x="11442649" y="5136056"/>
            <a:ext cx="4355011" cy="964959"/>
          </a:xfrm>
          <a:prstGeom prst="roundRect">
            <a:avLst>
              <a:gd name="adj" fmla="val 1579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11658495" y="5326509"/>
            <a:ext cx="4041018" cy="571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9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실리콘밸리 출신, 조용한 카페에서 새 아이디어 굽는 중 ☕</a:t>
            </a:r>
            <a:endParaRPr lang="en-US" sz="1050" dirty="0"/>
          </a:p>
        </p:txBody>
      </p:sp>
      <p:sp>
        <p:nvSpPr>
          <p:cNvPr id="40" name="Text 31"/>
          <p:cNvSpPr/>
          <p:nvPr/>
        </p:nvSpPr>
        <p:spPr>
          <a:xfrm>
            <a:off x="15373805" y="6151802"/>
            <a:ext cx="500056" cy="19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>
                    <a:alpha val="45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32 / 80</a:t>
            </a:r>
            <a:endParaRPr lang="en-US" sz="75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93437" y="6548578"/>
            <a:ext cx="165059" cy="165059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1760069" y="6513662"/>
            <a:ext cx="729888" cy="272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7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분야</a:t>
            </a:r>
            <a:endParaRPr lang="en-US" sz="975" dirty="0"/>
          </a:p>
        </p:txBody>
      </p:sp>
      <p:sp>
        <p:nvSpPr>
          <p:cNvPr id="43" name="Shape 33"/>
          <p:cNvSpPr/>
          <p:nvPr/>
        </p:nvSpPr>
        <p:spPr>
          <a:xfrm>
            <a:off x="11442649" y="6875521"/>
            <a:ext cx="564413" cy="488828"/>
          </a:xfrm>
          <a:prstGeom prst="ellipse">
            <a:avLst/>
          </a:prstGeom>
          <a:solidFill>
            <a:srgbClr val="8FB570">
              <a:alpha val="95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11604574" y="6980296"/>
            <a:ext cx="316763" cy="317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IT</a:t>
            </a:r>
            <a:endParaRPr lang="en-US" sz="975" dirty="0"/>
          </a:p>
        </p:txBody>
      </p:sp>
      <p:sp>
        <p:nvSpPr>
          <p:cNvPr id="45" name="Shape 35"/>
          <p:cNvSpPr/>
          <p:nvPr/>
        </p:nvSpPr>
        <p:spPr>
          <a:xfrm>
            <a:off x="12108638" y="6875521"/>
            <a:ext cx="1236155" cy="48882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12270563" y="6980296"/>
            <a:ext cx="988505" cy="317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Marketing</a:t>
            </a:r>
            <a:endParaRPr lang="en-US" sz="975" dirty="0"/>
          </a:p>
        </p:txBody>
      </p:sp>
      <p:sp>
        <p:nvSpPr>
          <p:cNvPr id="47" name="Shape 37"/>
          <p:cNvSpPr/>
          <p:nvPr/>
        </p:nvSpPr>
        <p:spPr>
          <a:xfrm>
            <a:off x="13446366" y="6875521"/>
            <a:ext cx="984897" cy="48882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13608291" y="6980296"/>
            <a:ext cx="737247" cy="317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</a:t>
            </a:r>
            <a:endParaRPr lang="en-US" sz="975" dirty="0"/>
          </a:p>
        </p:txBody>
      </p:sp>
      <p:sp>
        <p:nvSpPr>
          <p:cNvPr id="49" name="Shape 39"/>
          <p:cNvSpPr/>
          <p:nvPr/>
        </p:nvSpPr>
        <p:spPr>
          <a:xfrm>
            <a:off x="14532839" y="6875521"/>
            <a:ext cx="1058398" cy="48882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14694764" y="6980296"/>
            <a:ext cx="810748" cy="317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Finance</a:t>
            </a:r>
            <a:endParaRPr lang="en-US" sz="975" dirty="0"/>
          </a:p>
        </p:txBody>
      </p:sp>
      <p:sp>
        <p:nvSpPr>
          <p:cNvPr id="51" name="Shape 41"/>
          <p:cNvSpPr/>
          <p:nvPr/>
        </p:nvSpPr>
        <p:spPr>
          <a:xfrm>
            <a:off x="11442649" y="7465923"/>
            <a:ext cx="901078" cy="48882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2" name="Text 42"/>
          <p:cNvSpPr/>
          <p:nvPr/>
        </p:nvSpPr>
        <p:spPr>
          <a:xfrm>
            <a:off x="11604574" y="7570698"/>
            <a:ext cx="653428" cy="317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Other</a:t>
            </a:r>
            <a:endParaRPr lang="en-US" sz="975" dirty="0"/>
          </a:p>
        </p:txBody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93437" y="8192817"/>
            <a:ext cx="165059" cy="165059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11760069" y="8157900"/>
            <a:ext cx="729888" cy="272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7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말차 성향</a:t>
            </a:r>
            <a:endParaRPr lang="en-US" sz="975" dirty="0"/>
          </a:p>
        </p:txBody>
      </p:sp>
      <p:sp>
        <p:nvSpPr>
          <p:cNvPr id="55" name="Shape 44"/>
          <p:cNvSpPr/>
          <p:nvPr/>
        </p:nvSpPr>
        <p:spPr>
          <a:xfrm>
            <a:off x="11442649" y="8519760"/>
            <a:ext cx="1383954" cy="1193502"/>
          </a:xfrm>
          <a:prstGeom prst="roundRect">
            <a:avLst>
              <a:gd name="adj" fmla="val 12769"/>
            </a:avLst>
          </a:prstGeom>
          <a:solidFill>
            <a:srgbClr val="8FB570">
              <a:alpha val="22000"/>
            </a:srgbClr>
          </a:solidFill>
          <a:ln w="9525">
            <a:solidFill>
              <a:srgbClr val="C8DFB1">
                <a:alpha val="70000"/>
              </a:srgbClr>
            </a:solidFill>
            <a:prstDash val="solid"/>
          </a:ln>
        </p:spPr>
      </p:sp>
      <p:sp>
        <p:nvSpPr>
          <p:cNvPr id="56" name="Text 45"/>
          <p:cNvSpPr/>
          <p:nvPr/>
        </p:nvSpPr>
        <p:spPr>
          <a:xfrm>
            <a:off x="11518820" y="8684819"/>
            <a:ext cx="1231611" cy="419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🍃</a:t>
            </a:r>
            <a:endParaRPr lang="en-US" sz="1650" dirty="0"/>
          </a:p>
        </p:txBody>
      </p:sp>
      <p:sp>
        <p:nvSpPr>
          <p:cNvPr id="57" name="Text 46"/>
          <p:cNvSpPr/>
          <p:nvPr/>
        </p:nvSpPr>
        <p:spPr>
          <a:xfrm>
            <a:off x="11518820" y="9116510"/>
            <a:ext cx="1231611" cy="260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느슨하게</a:t>
            </a:r>
            <a:endParaRPr lang="en-US" sz="900" dirty="0"/>
          </a:p>
        </p:txBody>
      </p:sp>
      <p:sp>
        <p:nvSpPr>
          <p:cNvPr id="58" name="Text 47"/>
          <p:cNvSpPr/>
          <p:nvPr/>
        </p:nvSpPr>
        <p:spPr>
          <a:xfrm>
            <a:off x="11518820" y="9364099"/>
            <a:ext cx="1231611" cy="222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가벼운 수다</a:t>
            </a:r>
            <a:endParaRPr lang="en-US" sz="750" dirty="0"/>
          </a:p>
        </p:txBody>
      </p:sp>
      <p:sp>
        <p:nvSpPr>
          <p:cNvPr id="59" name="Shape 48"/>
          <p:cNvSpPr/>
          <p:nvPr/>
        </p:nvSpPr>
        <p:spPr>
          <a:xfrm>
            <a:off x="12928177" y="8519760"/>
            <a:ext cx="1383954" cy="1193502"/>
          </a:xfrm>
          <a:prstGeom prst="roundRect">
            <a:avLst>
              <a:gd name="adj" fmla="val 1276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0" name="Text 49"/>
          <p:cNvSpPr/>
          <p:nvPr/>
        </p:nvSpPr>
        <p:spPr>
          <a:xfrm>
            <a:off x="13004349" y="8684819"/>
            <a:ext cx="1231611" cy="419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🌿</a:t>
            </a:r>
            <a:endParaRPr lang="en-US" sz="1650" dirty="0"/>
          </a:p>
        </p:txBody>
      </p:sp>
      <p:sp>
        <p:nvSpPr>
          <p:cNvPr id="61" name="Text 50"/>
          <p:cNvSpPr/>
          <p:nvPr/>
        </p:nvSpPr>
        <p:spPr>
          <a:xfrm>
            <a:off x="13004349" y="9116510"/>
            <a:ext cx="1231611" cy="260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진솔하게</a:t>
            </a:r>
            <a:endParaRPr lang="en-US" sz="900" dirty="0"/>
          </a:p>
        </p:txBody>
      </p:sp>
      <p:sp>
        <p:nvSpPr>
          <p:cNvPr id="62" name="Text 51"/>
          <p:cNvSpPr/>
          <p:nvPr/>
        </p:nvSpPr>
        <p:spPr>
          <a:xfrm>
            <a:off x="13004349" y="9364099"/>
            <a:ext cx="1231611" cy="222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깊은 이야기</a:t>
            </a:r>
            <a:endParaRPr lang="en-US" sz="750" dirty="0"/>
          </a:p>
        </p:txBody>
      </p:sp>
      <p:sp>
        <p:nvSpPr>
          <p:cNvPr id="63" name="Shape 52"/>
          <p:cNvSpPr/>
          <p:nvPr/>
        </p:nvSpPr>
        <p:spPr>
          <a:xfrm>
            <a:off x="14413706" y="8519760"/>
            <a:ext cx="1383954" cy="1193502"/>
          </a:xfrm>
          <a:prstGeom prst="roundRect">
            <a:avLst>
              <a:gd name="adj" fmla="val 1276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4" name="Text 53"/>
          <p:cNvSpPr/>
          <p:nvPr/>
        </p:nvSpPr>
        <p:spPr>
          <a:xfrm>
            <a:off x="14489877" y="8684819"/>
            <a:ext cx="1231612" cy="419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✨</a:t>
            </a:r>
            <a:endParaRPr lang="en-US" sz="1650" dirty="0"/>
          </a:p>
        </p:txBody>
      </p:sp>
      <p:sp>
        <p:nvSpPr>
          <p:cNvPr id="65" name="Text 54"/>
          <p:cNvSpPr/>
          <p:nvPr/>
        </p:nvSpPr>
        <p:spPr>
          <a:xfrm>
            <a:off x="14489877" y="9116510"/>
            <a:ext cx="1231612" cy="260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모드</a:t>
            </a:r>
            <a:endParaRPr lang="en-US" sz="900" dirty="0"/>
          </a:p>
        </p:txBody>
      </p:sp>
      <p:sp>
        <p:nvSpPr>
          <p:cNvPr id="66" name="Text 55"/>
          <p:cNvSpPr/>
          <p:nvPr/>
        </p:nvSpPr>
        <p:spPr>
          <a:xfrm>
            <a:off x="14489877" y="9364099"/>
            <a:ext cx="1231612" cy="222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일</a:t>
            </a:r>
            <a:endParaRPr lang="en-US" sz="750" dirty="0"/>
          </a:p>
        </p:txBody>
      </p:sp>
      <p:sp>
        <p:nvSpPr>
          <p:cNvPr id="67" name="Shape 56"/>
          <p:cNvSpPr/>
          <p:nvPr/>
        </p:nvSpPr>
        <p:spPr>
          <a:xfrm>
            <a:off x="11442649" y="9522809"/>
            <a:ext cx="1142714" cy="660235"/>
          </a:xfrm>
          <a:prstGeom prst="roundRect">
            <a:avLst>
              <a:gd name="adj" fmla="val 2308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8" name="Text 57"/>
          <p:cNvSpPr/>
          <p:nvPr/>
        </p:nvSpPr>
        <p:spPr>
          <a:xfrm>
            <a:off x="11471224" y="9541859"/>
            <a:ext cx="1085564" cy="660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취소</a:t>
            </a:r>
            <a:endParaRPr lang="en-US" sz="1000" dirty="0"/>
          </a:p>
        </p:txBody>
      </p:sp>
      <p:sp>
        <p:nvSpPr>
          <p:cNvPr id="69" name="Shape 58"/>
          <p:cNvSpPr/>
          <p:nvPr/>
        </p:nvSpPr>
        <p:spPr>
          <a:xfrm>
            <a:off x="12712331" y="9522809"/>
            <a:ext cx="3275781" cy="660235"/>
          </a:xfrm>
          <a:prstGeom prst="roundRect">
            <a:avLst>
              <a:gd name="adj" fmla="val 25968"/>
            </a:avLst>
          </a:prstGeom>
          <a:solidFill>
            <a:srgbClr val="2A4A32"/>
          </a:solidFill>
          <a:ln w="9525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04800" dist="114300" dir="5400000">
              <a:srgbClr val="000000">
                <a:alpha val="60000"/>
              </a:srgbClr>
            </a:outerShdw>
          </a:effectLst>
        </p:spPr>
      </p:sp>
      <p:pic>
        <p:nvPicPr>
          <p:cNvPr id="7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90396" y="9738655"/>
            <a:ext cx="228543" cy="228544"/>
          </a:xfrm>
          <a:prstGeom prst="rect">
            <a:avLst/>
          </a:prstGeom>
        </p:spPr>
      </p:pic>
      <p:sp>
        <p:nvSpPr>
          <p:cNvPr id="71" name="Text 59"/>
          <p:cNvSpPr/>
          <p:nvPr/>
        </p:nvSpPr>
        <p:spPr>
          <a:xfrm>
            <a:off x="13907807" y="9706913"/>
            <a:ext cx="1240341" cy="330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-12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저장하기</a:t>
            </a:r>
            <a:endParaRPr lang="en-US" sz="1200" dirty="0"/>
          </a:p>
        </p:txBody>
      </p:sp>
      <p:sp>
        <p:nvSpPr>
          <p:cNvPr id="72" name="Shape 60"/>
          <p:cNvSpPr/>
          <p:nvPr/>
        </p:nvSpPr>
        <p:spPr>
          <a:xfrm>
            <a:off x="12864694" y="10246528"/>
            <a:ext cx="1701374" cy="63484"/>
          </a:xfrm>
          <a:prstGeom prst="roundRect">
            <a:avLst>
              <a:gd name="adj" fmla="val 45011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73" name="Text 61"/>
          <p:cNvSpPr/>
          <p:nvPr/>
        </p:nvSpPr>
        <p:spPr>
          <a:xfrm>
            <a:off x="952500" y="9625013"/>
            <a:ext cx="21083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Matcha · Glassmorphism</a:t>
            </a:r>
            <a:endParaRPr lang="en-US" sz="1350" dirty="0"/>
          </a:p>
        </p:txBody>
      </p:sp>
      <p:sp>
        <p:nvSpPr>
          <p:cNvPr id="74" name="Text 62"/>
          <p:cNvSpPr/>
          <p:nvPr/>
        </p:nvSpPr>
        <p:spPr>
          <a:xfrm>
            <a:off x="15202570" y="9644063"/>
            <a:ext cx="220913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"말차 한 잔처럼, 깊고 조용한 연결"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2026-05-13T02:49:28Z</dcterms:created>
  <dcterms:modified xsi:type="dcterms:W3CDTF">2026-05-13T02:49:28Z</dcterms:modified>
</cp:coreProperties>
</file>